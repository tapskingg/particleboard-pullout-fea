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5"/>
  </p:normalViewPr>
  <p:slideViewPr>
    <p:cSldViewPr snapToGrid="0">
      <p:cViewPr varScale="1">
        <p:scale>
          <a:sx n="89" d="100"/>
          <a:sy n="89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report, pp. 1 and 44; Figure 30 (finite element pull-out model). Co-authored thesis by Tapiwanashe Phiri and Niklas Björkman.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report, pp. 9-12, 30-31 and 45; Figure 18 (experimental pull-out setup). Experimental data were supplied by IKEA; the thesis authors did not conduct the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report, pp. 12, 32-50. Work was completed jointly by the two thesis authors.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report, pp. 13-15 and 38; Figures 3 and 23. Recommended visuals: Figure 3 to explain particleboard's layered structure and Figure 23 to show how it was represented in FEA.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report, pp. 39-41; Table 4 and Figures 24-25. Model 2: tensile 99%, shear 86%, bending 100%. Model 3: tensile 99%, shear 98%, bending 86%.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report, pp. 45-49; Table 5 and Figures 32-33. Recommended visuals: Figures 32 and 33 side-by-side to show how mesh density changed crack 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report, pp. 44 and 47-50; Figure 29. Recommended visual: Figure 29 to connect simulated damage with the physical pull-out crater. Model 4 achieved 99% for the 18 mm damage area but showed damage-area dependency and poor pure-shear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24759" r="24759"/>
          <a:stretch>
            <a:fillRect/>
          </a:stretch>
        </p:blipFill>
        <p:spPr>
          <a:xfrm>
            <a:off x="6429375" y="0"/>
            <a:ext cx="576262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097D4E-CFA7-4149-B4A0-73A6C01739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2937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E8F0C2-4DF0-423D-9887-918980709F3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914400" cy="76200"/>
          </a:xfrm>
          <a:prstGeom prst="rect">
            <a:avLst/>
          </a:prstGeom>
          <a:solidFill>
            <a:srgbClr val="2878D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3EAC4-F36C-476E-8309-8D154EA76BA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5191125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200" b="1">
                <a:solidFill>
                  <a:srgbClr val="101820"/>
                </a:solidFill>
              </a:defRPr>
            </a:pPr>
            <a:r>
              <a:rPr sz="4200" b="1">
                <a:solidFill>
                  <a:srgbClr val="101820"/>
                </a:solidFill>
              </a:rPr>
              <a:t>Predicting screw pull-out failure in particleboard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6E5531-E0E6-4F29-B7A4-F7D1B9E53340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5048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5D6873"/>
                </a:solidFill>
              </a:defRPr>
            </a:pPr>
            <a:r>
              <a:rPr sz="1950" b="0">
                <a:solidFill>
                  <a:srgbClr val="5D6873"/>
                </a:solidFill>
              </a:rPr>
              <a:t>Nonlinear FEA material modelling and validation for furniture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095712-F187-492C-90BB-69ABC1BCD3D0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Tapiwanashe Phiri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EC156-ADB1-44C1-A1D0-B50B03A1D6EC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D6873"/>
                </a:solidFill>
              </a:defRPr>
            </a:pPr>
            <a:r>
              <a:rPr sz="1350" b="0">
                <a:solidFill>
                  <a:srgbClr val="5D6873"/>
                </a:solidFill>
              </a:rPr>
              <a:t>Master's thesis with IKEA of Sweden</a:t>
            </a:r>
          </a:p>
        </p:txBody>
      </p:sp>
    </p:spTree>
    <p:extLst>
      <p:ext uri="{BB962C8B-B14F-4D97-AF65-F5344CB8AC3E}">
        <p14:creationId xmlns:p14="http://schemas.microsoft.com/office/powerpoint/2010/main" val="131690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37EA456-0CAC-48F3-B162-E0A8CC37445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878D0"/>
                </a:solidFill>
              </a:defRPr>
            </a:pPr>
            <a:r>
              <a:rPr sz="1200" b="1">
                <a:solidFill>
                  <a:srgbClr val="2878D0"/>
                </a:solidFill>
              </a:rPr>
              <a:t>THE ENGINEERING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86B2AE-FE19-4AE7-8C32-39D64DEF4D8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A small connector can determine whether furniture survives daily 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49D676-D777-4870-83BF-441333C3E89B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19050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51E06B-A583-4DB2-BEA3-922872F2F9F4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76262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1820"/>
                </a:solidFill>
              </a:defRPr>
            </a:pPr>
            <a:r>
              <a:rPr sz="2100" b="1" dirty="0">
                <a:solidFill>
                  <a:srgbClr val="101820"/>
                </a:solidFill>
              </a:rPr>
              <a:t>Screw withdrawal strength affects product safety, durability and assembly. Physical testing is reliable</a:t>
            </a:r>
            <a:r>
              <a:rPr lang="sv-SE" sz="2100" b="1" dirty="0">
                <a:solidFill>
                  <a:srgbClr val="101820"/>
                </a:solidFill>
              </a:rPr>
              <a:t> - </a:t>
            </a:r>
            <a:r>
              <a:rPr sz="2100" b="1" dirty="0">
                <a:solidFill>
                  <a:srgbClr val="101820"/>
                </a:solidFill>
              </a:rPr>
              <a:t>but expensive to repeat for every design.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87C76-6D86-49A0-814E-B888BBB3FC85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2762250" cy="1428750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40B607-9C68-4DD3-8890-174F70633EA9}"/>
              </a:ext>
            </a:extLst>
          </p:cNvPr>
          <p:cNvSpPr>
            <a:spLocks noGrp="1"/>
          </p:cNvSpPr>
          <p:nvPr/>
        </p:nvSpPr>
        <p:spPr>
          <a:xfrm>
            <a:off x="838200" y="3876675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370 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95E1DB-C937-4131-846C-60A6AC0AF2D8}"/>
              </a:ext>
            </a:extLst>
          </p:cNvPr>
          <p:cNvSpPr>
            <a:spLocks noGrp="1"/>
          </p:cNvSpPr>
          <p:nvPr/>
        </p:nvSpPr>
        <p:spPr>
          <a:xfrm>
            <a:off x="838200" y="4514850"/>
            <a:ext cx="2333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9E5F3"/>
                </a:solidFill>
              </a:defRPr>
            </a:pPr>
            <a:r>
              <a:rPr sz="1350" b="0">
                <a:solidFill>
                  <a:srgbClr val="A9E5F3"/>
                </a:solidFill>
              </a:rPr>
              <a:t>measured mean pull-out force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E8B380-6F11-4275-BFD7-FED5B113ED72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878D0"/>
                </a:solidFill>
              </a:defRPr>
            </a:pPr>
            <a:r>
              <a:rPr sz="1500" b="1">
                <a:solidFill>
                  <a:srgbClr val="2878D0"/>
                </a:solidFill>
              </a:rPr>
              <a:t>Goal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B3F0E3-F7E5-4E9E-B3AC-FD3BC8138923}"/>
              </a:ext>
            </a:extLst>
          </p:cNvPr>
          <p:cNvSpPr>
            <a:spLocks noGrp="1"/>
          </p:cNvSpPr>
          <p:nvPr/>
        </p:nvSpPr>
        <p:spPr>
          <a:xfrm>
            <a:off x="3714750" y="4095750"/>
            <a:ext cx="285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5D6873"/>
                </a:solidFill>
              </a:defRPr>
            </a:pPr>
            <a:r>
              <a:rPr sz="1725" b="0">
                <a:solidFill>
                  <a:srgbClr val="5D6873"/>
                </a:solidFill>
              </a:rPr>
              <a:t>Build an LS-DYNA model that predicts failure before physical prototypes are made.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17772" r="17772"/>
          <a:stretch>
            <a:fillRect/>
          </a:stretch>
        </p:blipFill>
        <p:spPr>
          <a:xfrm>
            <a:off x="7086600" y="1952625"/>
            <a:ext cx="4495800" cy="3714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355E1C-8A07-4EF3-841B-2340EFB8AFF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TAPIWANASHE PHIRI  /  ENGINEERING PORTFOLIO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A75DCC-695F-42A7-AFF1-47A286BC7F5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4317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93A6946-2034-4193-A006-23BCD8B29E4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878D0"/>
                </a:solidFill>
              </a:defRPr>
            </a:pPr>
            <a:r>
              <a:rPr sz="1200" b="1">
                <a:solidFill>
                  <a:srgbClr val="2878D0"/>
                </a:solidFill>
              </a:rPr>
              <a:t>MY CONTRIBUTION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141759-5F26-4F16-96C9-A0B6DA6B6891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I co-developed a disciplined validation route before modelling the final failure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31B198-160A-424D-ACF9-E725B1F5EFF6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19050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3CC1C3-2B15-4117-912F-7724C9DD0BD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878D0"/>
                </a:solidFill>
              </a:defRPr>
            </a:pPr>
            <a:r>
              <a:rPr sz="1350" b="1">
                <a:solidFill>
                  <a:srgbClr val="2878D0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657996-C2A3-4154-B288-38A9E0BA3379}"/>
              </a:ext>
            </a:extLst>
          </p:cNvPr>
          <p:cNvSpPr>
            <a:spLocks noGrp="1"/>
          </p:cNvSpPr>
          <p:nvPr/>
        </p:nvSpPr>
        <p:spPr>
          <a:xfrm>
            <a:off x="1381125" y="18573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Defined particleboard behaviour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935B23-2276-4551-B434-8CAE97DD697C}"/>
              </a:ext>
            </a:extLst>
          </p:cNvPr>
          <p:cNvSpPr>
            <a:spLocks noGrp="1"/>
          </p:cNvSpPr>
          <p:nvPr/>
        </p:nvSpPr>
        <p:spPr>
          <a:xfrm>
            <a:off x="4810125" y="18859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Translated layered, direction-dependent material behaviour into FEA inputs.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45454-D592-4925-9528-7E64965D0C78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0401300" cy="9525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980405-80EA-404E-B634-1EFE815EB53F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878D0"/>
                </a:solidFill>
              </a:defRPr>
            </a:pPr>
            <a:r>
              <a:rPr sz="1350" b="1">
                <a:solidFill>
                  <a:srgbClr val="2878D0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CBE9F-8293-4E02-A381-23FC70615516}"/>
              </a:ext>
            </a:extLst>
          </p:cNvPr>
          <p:cNvSpPr>
            <a:spLocks noGrp="1"/>
          </p:cNvSpPr>
          <p:nvPr/>
        </p:nvSpPr>
        <p:spPr>
          <a:xfrm>
            <a:off x="1381125" y="26955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Built three candidate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020E00-FAB8-407F-95E8-5F561C690DF4}"/>
              </a:ext>
            </a:extLst>
          </p:cNvPr>
          <p:cNvSpPr>
            <a:spLocks noGrp="1"/>
          </p:cNvSpPr>
          <p:nvPr/>
        </p:nvSpPr>
        <p:spPr>
          <a:xfrm>
            <a:off x="4810125" y="27241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Evaluated LS-DYNA material formulations and damage approaches.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BAAE65-0ECC-4362-A0AA-69D5F0879BD6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10401300" cy="9525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6A72DC-C979-496B-8664-A7178DCCE616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878D0"/>
                </a:solidFill>
              </a:defRPr>
            </a:pPr>
            <a:r>
              <a:rPr sz="1350" b="1">
                <a:solidFill>
                  <a:srgbClr val="2878D0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4A94BA-84A8-4402-995D-2C6E52767F83}"/>
              </a:ext>
            </a:extLst>
          </p:cNvPr>
          <p:cNvSpPr>
            <a:spLocks noGrp="1"/>
          </p:cNvSpPr>
          <p:nvPr/>
        </p:nvSpPr>
        <p:spPr>
          <a:xfrm>
            <a:off x="1381125" y="35337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Validated in stages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8B176F-63CC-4E8D-B468-4F4264B337D6}"/>
              </a:ext>
            </a:extLst>
          </p:cNvPr>
          <p:cNvSpPr>
            <a:spLocks noGrp="1"/>
          </p:cNvSpPr>
          <p:nvPr/>
        </p:nvSpPr>
        <p:spPr>
          <a:xfrm>
            <a:off x="4810125" y="35623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Tested single elements, mesh sensitivity, tensile, shear and bending cases.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1E994D-BA54-4BD3-AFC2-A02BB13DCC72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401300" cy="9525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EA3FCE-5E7D-432A-9976-5E069716B383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878D0"/>
                </a:solidFill>
              </a:defRPr>
            </a:pPr>
            <a:r>
              <a:rPr sz="1350" b="1">
                <a:solidFill>
                  <a:srgbClr val="2878D0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02D074-A23D-4DBB-9FEE-76D06E65A031}"/>
              </a:ext>
            </a:extLst>
          </p:cNvPr>
          <p:cNvSpPr>
            <a:spLocks noGrp="1"/>
          </p:cNvSpPr>
          <p:nvPr/>
        </p:nvSpPr>
        <p:spPr>
          <a:xfrm>
            <a:off x="1381125" y="43719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Modelled screw pull-out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83040E-3500-4401-A38C-577860A49150}"/>
              </a:ext>
            </a:extLst>
          </p:cNvPr>
          <p:cNvSpPr>
            <a:spLocks noGrp="1"/>
          </p:cNvSpPr>
          <p:nvPr/>
        </p:nvSpPr>
        <p:spPr>
          <a:xfrm>
            <a:off x="4810125" y="44005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Built contact, symmetry and local-damage definitions around a EURO screw.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AD84E1-EFEB-4968-9791-27FBDA71E3C7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401300" cy="9525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30054D-18AA-4B2E-8A49-79A15797F5A7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878D0"/>
                </a:solidFill>
              </a:defRPr>
            </a:pPr>
            <a:r>
              <a:rPr sz="1350" b="1">
                <a:solidFill>
                  <a:srgbClr val="2878D0"/>
                </a:solidFill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208E55-13CF-48A7-9B21-262F2784348E}"/>
              </a:ext>
            </a:extLst>
          </p:cNvPr>
          <p:cNvSpPr>
            <a:spLocks noGrp="1"/>
          </p:cNvSpPr>
          <p:nvPr/>
        </p:nvSpPr>
        <p:spPr>
          <a:xfrm>
            <a:off x="1381125" y="52101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Diagnosed limitations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6A03EF-C200-4C07-822A-3F1082A409DE}"/>
              </a:ext>
            </a:extLst>
          </p:cNvPr>
          <p:cNvSpPr>
            <a:spLocks noGrp="1"/>
          </p:cNvSpPr>
          <p:nvPr/>
        </p:nvSpPr>
        <p:spPr>
          <a:xfrm>
            <a:off x="4810125" y="52387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Linked premature failure to shear data, mesh size and damage-zone assumptions.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4E29DD-3078-4B89-A845-9FE9F0E2D2D0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401300" cy="9525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7C9584-6939-471D-BC15-8EF6A42456C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TAPIWANASHE PHIRI  /  ENGINEERING PORTFOLIO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1AC956-AA70-4BC8-9583-5812E0F1699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6110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DD1BD60-CDAA-40D9-9B1E-B26461B644A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878D0"/>
                </a:solidFill>
              </a:defRPr>
            </a:pPr>
            <a:r>
              <a:rPr sz="1200" b="1">
                <a:solidFill>
                  <a:srgbClr val="2878D0"/>
                </a:solidFill>
              </a:rPr>
              <a:t>MODEL CONSTRUCTION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F7E977-2B46-43F6-BEBF-DF143CBE568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Layered models captured how particleboard behaves in different directions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4696B-87D5-46AF-8E04-6957C1A5DBD1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19050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39708"/>
            <a:ext cx="4476750" cy="34929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81921" y="1952625"/>
            <a:ext cx="4647807" cy="3667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20E108-2CE9-4007-9F61-FE01FE83DD4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Real material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1075E9-13E4-48E5-9375-7F98CC3566AB}"/>
              </a:ext>
            </a:extLst>
          </p:cNvPr>
          <p:cNvSpPr>
            <a:spLocks noGrp="1"/>
          </p:cNvSpPr>
          <p:nvPr/>
        </p:nvSpPr>
        <p:spPr>
          <a:xfrm>
            <a:off x="2705100" y="57150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D6873"/>
                </a:solidFill>
              </a:defRPr>
            </a:pPr>
            <a:r>
              <a:rPr sz="1350" b="0">
                <a:solidFill>
                  <a:srgbClr val="5D6873"/>
                </a:solidFill>
              </a:rPr>
              <a:t>Five layers with different densities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77D071-747E-4990-8761-AABC0521156F}"/>
              </a:ext>
            </a:extLst>
          </p:cNvPr>
          <p:cNvSpPr>
            <a:spLocks noGrp="1"/>
          </p:cNvSpPr>
          <p:nvPr/>
        </p:nvSpPr>
        <p:spPr>
          <a:xfrm>
            <a:off x="5429250" y="5715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Simulation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B332B7-4A57-4436-B859-EB020A6E0B2A}"/>
              </a:ext>
            </a:extLst>
          </p:cNvPr>
          <p:cNvSpPr>
            <a:spLocks noGrp="1"/>
          </p:cNvSpPr>
          <p:nvPr/>
        </p:nvSpPr>
        <p:spPr>
          <a:xfrm>
            <a:off x="7524750" y="57150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D6873"/>
                </a:solidFill>
              </a:defRPr>
            </a:pPr>
            <a:r>
              <a:rPr sz="1350" b="0">
                <a:solidFill>
                  <a:srgbClr val="5D6873"/>
                </a:solidFill>
              </a:rPr>
              <a:t>Layer-specific properties and aligned material directions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32AE72-F6A9-43D3-83DF-FBDEFEBB40A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TAPIWANASHE PHIRI  /  ENGINEERING PORTFOLIO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1C88B6-6DE3-4AE1-965A-B41A730FE9A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680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E32D946-1358-43A7-BC86-E97E03C62DC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878D0"/>
                </a:solidFill>
              </a:defRPr>
            </a:pPr>
            <a:r>
              <a:rPr sz="1200" b="1">
                <a:solidFill>
                  <a:srgbClr val="2878D0"/>
                </a:solidFill>
              </a:rPr>
              <a:t>VALIDATION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9497ED-181C-4708-B463-A05A6BEF78B5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101820"/>
                </a:solidFill>
              </a:defRPr>
            </a:pPr>
            <a:r>
              <a:rPr sz="2925" b="1" dirty="0">
                <a:solidFill>
                  <a:srgbClr val="101820"/>
                </a:solidFill>
              </a:rPr>
              <a:t>The new models reached 86</a:t>
            </a:r>
            <a:r>
              <a:rPr lang="sv-SE" sz="2925" b="1" dirty="0">
                <a:solidFill>
                  <a:srgbClr val="101820"/>
                </a:solidFill>
              </a:rPr>
              <a:t> - </a:t>
            </a:r>
            <a:r>
              <a:rPr sz="2925" b="1" dirty="0">
                <a:solidFill>
                  <a:srgbClr val="101820"/>
                </a:solidFill>
              </a:rPr>
              <a:t>100% accuracy on core load cases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3021BD-F373-47F8-B604-2FC06ABC5B56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19050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DB10CE-740C-4745-A6CD-8B7F54022FB1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878D0"/>
                </a:solidFill>
              </a:defRPr>
            </a:pPr>
            <a:r>
              <a:rPr sz="1350" b="1">
                <a:solidFill>
                  <a:srgbClr val="2878D0"/>
                </a:solidFill>
              </a:rPr>
              <a:t>MODEL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813FC-5A8C-4079-9396-B7FDA0756A48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101820"/>
                </a:solidFill>
              </a:defRPr>
            </a:pPr>
            <a:r>
              <a:rPr sz="3900" b="1">
                <a:solidFill>
                  <a:srgbClr val="101820"/>
                </a:solidFill>
              </a:rPr>
              <a:t>99%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413893-7202-4086-88CF-AE7EE5521736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tensile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E76B0-9759-4D26-8F0B-CE28475FCAD1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101820"/>
                </a:solidFill>
              </a:defRPr>
            </a:pPr>
            <a:r>
              <a:rPr sz="3900" b="1">
                <a:solidFill>
                  <a:srgbClr val="101820"/>
                </a:solidFill>
              </a:rPr>
              <a:t>86%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C3546D-3C14-4782-B08B-848097996250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shear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EB4891-D9ED-45D5-A01D-8F036164A05E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17966B"/>
                </a:solidFill>
              </a:defRPr>
            </a:pPr>
            <a:r>
              <a:rPr sz="3900" b="1">
                <a:solidFill>
                  <a:srgbClr val="17966B"/>
                </a:solidFill>
              </a:rPr>
              <a:t>100%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A78CE0-8D76-41AF-9EF2-2E0021A1429B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bending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DB56B7-0B88-40A0-AA5A-BBCD765F2355}"/>
              </a:ext>
            </a:extLst>
          </p:cNvPr>
          <p:cNvSpPr>
            <a:spLocks noGrp="1"/>
          </p:cNvSpPr>
          <p:nvPr/>
        </p:nvSpPr>
        <p:spPr>
          <a:xfrm>
            <a:off x="4000500" y="1952625"/>
            <a:ext cx="19050" cy="4000500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AD6867-EC74-49F8-AAAA-C8C0CF1B9257}"/>
              </a:ext>
            </a:extLst>
          </p:cNvPr>
          <p:cNvSpPr>
            <a:spLocks noGrp="1"/>
          </p:cNvSpPr>
          <p:nvPr/>
        </p:nvSpPr>
        <p:spPr>
          <a:xfrm>
            <a:off x="4572000" y="2095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878D0"/>
                </a:solidFill>
              </a:defRPr>
            </a:pPr>
            <a:r>
              <a:rPr sz="1350" b="1">
                <a:solidFill>
                  <a:srgbClr val="2878D0"/>
                </a:solidFill>
              </a:rPr>
              <a:t>MODEL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FED8F7-E5EA-4348-8A8F-CE2AD0472BE0}"/>
              </a:ext>
            </a:extLst>
          </p:cNvPr>
          <p:cNvSpPr>
            <a:spLocks noGrp="1"/>
          </p:cNvSpPr>
          <p:nvPr/>
        </p:nvSpPr>
        <p:spPr>
          <a:xfrm>
            <a:off x="4572000" y="247650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101820"/>
                </a:solidFill>
              </a:defRPr>
            </a:pPr>
            <a:r>
              <a:rPr sz="3900" b="1">
                <a:solidFill>
                  <a:srgbClr val="101820"/>
                </a:solidFill>
              </a:rPr>
              <a:t>99%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28D9EE-55CF-4675-A32F-FC78EDF71815}"/>
              </a:ext>
            </a:extLst>
          </p:cNvPr>
          <p:cNvSpPr>
            <a:spLocks noGrp="1"/>
          </p:cNvSpPr>
          <p:nvPr/>
        </p:nvSpPr>
        <p:spPr>
          <a:xfrm>
            <a:off x="4572000" y="3143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tensile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571ADD-A648-4E79-82AB-EB0F962653C7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17966B"/>
                </a:solidFill>
              </a:defRPr>
            </a:pPr>
            <a:r>
              <a:rPr sz="3900" b="1">
                <a:solidFill>
                  <a:srgbClr val="17966B"/>
                </a:solidFill>
              </a:rPr>
              <a:t>98%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137BF2-06F7-4902-BC30-4A63115CBBDC}"/>
              </a:ext>
            </a:extLst>
          </p:cNvPr>
          <p:cNvSpPr>
            <a:spLocks noGrp="1"/>
          </p:cNvSpPr>
          <p:nvPr/>
        </p:nvSpPr>
        <p:spPr>
          <a:xfrm>
            <a:off x="4572000" y="4381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shear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6657C1-4E70-4EE6-885F-FADEB4A865CD}"/>
              </a:ext>
            </a:extLst>
          </p:cNvPr>
          <p:cNvSpPr>
            <a:spLocks noGrp="1"/>
          </p:cNvSpPr>
          <p:nvPr/>
        </p:nvSpPr>
        <p:spPr>
          <a:xfrm>
            <a:off x="4572000" y="4905375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101820"/>
                </a:solidFill>
              </a:defRPr>
            </a:pPr>
            <a:r>
              <a:rPr sz="3900" b="1">
                <a:solidFill>
                  <a:srgbClr val="101820"/>
                </a:solidFill>
              </a:rPr>
              <a:t>86%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0EBB70-3340-4F20-8454-D720E3354275}"/>
              </a:ext>
            </a:extLst>
          </p:cNvPr>
          <p:cNvSpPr>
            <a:spLocks noGrp="1"/>
          </p:cNvSpPr>
          <p:nvPr/>
        </p:nvSpPr>
        <p:spPr>
          <a:xfrm>
            <a:off x="4572000" y="5572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873"/>
                </a:solidFill>
              </a:defRPr>
            </a:pPr>
            <a:r>
              <a:rPr sz="1425" b="0">
                <a:solidFill>
                  <a:srgbClr val="5D6873"/>
                </a:solidFill>
              </a:rPr>
              <a:t>bending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86854" y="2143125"/>
            <a:ext cx="3171568" cy="157162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02447" y="4048125"/>
            <a:ext cx="2740380" cy="18097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A070466-80DA-4C3F-86BB-9239AAF42B0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TAPIWANASHE PHIRI  /  ENGINEERING PORTFOLIO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A24237-63FA-4ED7-B356-FC4B5BABFE32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284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B058808-DEF1-4E60-8D14-7406E9E2242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878D0"/>
                </a:solidFill>
              </a:defRPr>
            </a:pPr>
            <a:r>
              <a:rPr sz="1200" b="1">
                <a:solidFill>
                  <a:srgbClr val="2878D0"/>
                </a:solidFill>
              </a:rPr>
              <a:t>CRITICAL FINDING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96E925-315A-4DD1-AC28-F0D325D36C7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101820"/>
                </a:solidFill>
              </a:defRPr>
            </a:pPr>
            <a:r>
              <a:rPr sz="2925" b="1">
                <a:solidFill>
                  <a:srgbClr val="101820"/>
                </a:solidFill>
              </a:rPr>
              <a:t>Pull-out exposed the gap between a good fit and a robust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3ABA7C-208B-4313-A44C-BAF7CED7BC4E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19050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A0D1-90BF-4091-86C1-EF4DEB655290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878D0"/>
                </a:solidFill>
              </a:defRPr>
            </a:pPr>
            <a:r>
              <a:rPr sz="1350" b="1">
                <a:solidFill>
                  <a:srgbClr val="2878D0"/>
                </a:solidFill>
              </a:rPr>
              <a:t>Experimental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9FC8F8-C097-423D-AFC2-BE725C3FE7E4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66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101820"/>
                </a:solidFill>
              </a:defRPr>
            </a:pPr>
            <a:r>
              <a:rPr sz="4050" b="1">
                <a:solidFill>
                  <a:srgbClr val="101820"/>
                </a:solidFill>
              </a:rPr>
              <a:t>370 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4D0E04-E04E-4F46-9A81-1317E8C54AB3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D6873"/>
                </a:solidFill>
              </a:defRPr>
            </a:pPr>
            <a:r>
              <a:rPr sz="1350" b="1">
                <a:solidFill>
                  <a:srgbClr val="5D6873"/>
                </a:solidFill>
              </a:rPr>
              <a:t>Model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B076-6DD6-482B-B413-FFC1F32F1AD3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C44B4B"/>
                </a:solidFill>
              </a:defRPr>
            </a:pPr>
            <a:r>
              <a:rPr sz="3150" b="1">
                <a:solidFill>
                  <a:srgbClr val="C44B4B"/>
                </a:solidFill>
              </a:rPr>
              <a:t>122 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17D451-5AA7-4FD4-BE0E-35FF65D61624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D6873"/>
                </a:solidFill>
              </a:defRPr>
            </a:pPr>
            <a:r>
              <a:rPr sz="1350" b="0">
                <a:solidFill>
                  <a:srgbClr val="5D6873"/>
                </a:solidFill>
              </a:rPr>
              <a:t>33% accuracy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92AE3B-DB8B-4EBE-9991-E539D6F500F0}"/>
              </a:ext>
            </a:extLst>
          </p:cNvPr>
          <p:cNvSpPr>
            <a:spLocks noGrp="1"/>
          </p:cNvSpPr>
          <p:nvPr/>
        </p:nvSpPr>
        <p:spPr>
          <a:xfrm>
            <a:off x="3048000" y="33337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D6873"/>
                </a:solidFill>
              </a:defRPr>
            </a:pPr>
            <a:r>
              <a:rPr sz="1350" b="1">
                <a:solidFill>
                  <a:srgbClr val="5D6873"/>
                </a:solidFill>
              </a:rPr>
              <a:t>Model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E21048-8266-49C7-93CE-CB21FC957559}"/>
              </a:ext>
            </a:extLst>
          </p:cNvPr>
          <p:cNvSpPr>
            <a:spLocks noGrp="1"/>
          </p:cNvSpPr>
          <p:nvPr/>
        </p:nvSpPr>
        <p:spPr>
          <a:xfrm>
            <a:off x="3048000" y="363855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C44B4B"/>
                </a:solidFill>
              </a:defRPr>
            </a:pPr>
            <a:r>
              <a:rPr sz="3150" b="1">
                <a:solidFill>
                  <a:srgbClr val="C44B4B"/>
                </a:solidFill>
              </a:rPr>
              <a:t>96 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C6250B-2C83-40B4-8A9B-8C3AE30133E0}"/>
              </a:ext>
            </a:extLst>
          </p:cNvPr>
          <p:cNvSpPr>
            <a:spLocks noGrp="1"/>
          </p:cNvSpPr>
          <p:nvPr/>
        </p:nvSpPr>
        <p:spPr>
          <a:xfrm>
            <a:off x="3048000" y="42100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D6873"/>
                </a:solidFill>
              </a:defRPr>
            </a:pPr>
            <a:r>
              <a:rPr sz="1350" b="0">
                <a:solidFill>
                  <a:srgbClr val="5D6873"/>
                </a:solidFill>
              </a:rPr>
              <a:t>26% accuracy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43009-5B1E-48CE-8605-BB3987FFC01F}"/>
              </a:ext>
            </a:extLst>
          </p:cNvPr>
          <p:cNvSpPr>
            <a:spLocks noGrp="1"/>
          </p:cNvSpPr>
          <p:nvPr/>
        </p:nvSpPr>
        <p:spPr>
          <a:xfrm>
            <a:off x="5715000" y="1952625"/>
            <a:ext cx="19050" cy="3857625"/>
          </a:xfrm>
          <a:prstGeom prst="rect">
            <a:avLst/>
          </a:prstGeom>
          <a:solidFill>
            <a:srgbClr val="BBC3C9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35354" y="2047875"/>
            <a:ext cx="4807692" cy="214312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24872" y="4333875"/>
            <a:ext cx="3828655" cy="1524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056F343-7ABE-4876-85B7-CF64F0C3CC32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Why it mattered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B4794A-3279-456F-8E5E-BCB7C8901B4A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D6873"/>
                </a:solidFill>
              </a:defRPr>
            </a:pPr>
            <a:r>
              <a:rPr sz="1575" b="0">
                <a:solidFill>
                  <a:srgbClr val="5D6873"/>
                </a:solidFill>
              </a:rPr>
              <a:t>Premature shear failure and mesh-dependent crack growth showed the model needed better shear data—not cosmetic tuning.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BF2A1A-F3C0-4B0B-9D17-18C8A2EE1FB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TAPIWANASHE PHIRI  /  ENGINEERING PORTFOLIO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C901D6-BDB4-43F1-AF6C-0364797A093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>
                <a:solidFill>
                  <a:srgbClr val="5D6873"/>
                </a:solidFill>
              </a:defRPr>
            </a:pPr>
            <a:r>
              <a:rPr sz="900" b="1">
                <a:solidFill>
                  <a:srgbClr val="5D68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696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DA78DB-2726-40E0-98C5-E7C7F11F666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A9E5F3"/>
                </a:solidFill>
              </a:defRPr>
            </a:pPr>
            <a:r>
              <a:rPr sz="1200" b="1">
                <a:solidFill>
                  <a:srgbClr val="A9E5F3"/>
                </a:solidFill>
              </a:rPr>
              <a:t>ENGINEERING JUDGEMENT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203945-2630-4E66-A6F1-42E0B1A16B6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7239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I showed where simulation could be trusted—and where it could not.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58B5BB-CB95-4D65-8842-DF9A734C7373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7000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D6DDE3"/>
                </a:solidFill>
              </a:defRPr>
            </a:pPr>
            <a:r>
              <a:rPr sz="1800" b="0">
                <a:solidFill>
                  <a:srgbClr val="D6DDE3"/>
                </a:solidFill>
              </a:rPr>
              <a:t>The current IKEA model matched pull-out force at 99% for one damage area, but was sensitive to modelling assumptions and inaccurate in pure shear. The new models generalised better across standard loads but under-predicted pull-out.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l="8884" r="8884"/>
          <a:stretch>
            <a:fillRect/>
          </a:stretch>
        </p:blipFill>
        <p:spPr>
          <a:xfrm>
            <a:off x="8143875" y="762000"/>
            <a:ext cx="3438525" cy="3143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9AC33D-5CA7-43F7-902A-09B8C35ACEF8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0972800" cy="19050"/>
          </a:xfrm>
          <a:prstGeom prst="rect">
            <a:avLst/>
          </a:prstGeom>
          <a:solidFill>
            <a:srgbClr val="53606F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23C25D-38BF-4FAC-8C35-A635CC320D6B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A9E5F3"/>
                </a:solidFill>
              </a:defRPr>
            </a:pPr>
            <a:r>
              <a:rPr sz="1650" b="1">
                <a:solidFill>
                  <a:srgbClr val="A9E5F3"/>
                </a:solidFill>
              </a:rPr>
              <a:t>What this demonstrates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08C02-FF13-4DAD-803A-802D8206BF91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Nonlinear FEA  •  Material modelling  •  Validation strategy  •  Root-cause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4BA79-5396-4FA2-A133-D554ACFE060C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9BA5B2"/>
                </a:solidFill>
              </a:defRPr>
            </a:pPr>
            <a:r>
              <a:rPr sz="900" b="1">
                <a:solidFill>
                  <a:srgbClr val="9BA5B2"/>
                </a:solidFill>
              </a:rPr>
              <a:t>Portfolio case study by Tapiwanashe Phiri</a:t>
            </a:r>
          </a:p>
        </p:txBody>
      </p:sp>
    </p:spTree>
    <p:extLst>
      <p:ext uri="{BB962C8B-B14F-4D97-AF65-F5344CB8AC3E}">
        <p14:creationId xmlns:p14="http://schemas.microsoft.com/office/powerpoint/2010/main" val="2719994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Macintosh PowerPoint</Application>
  <DocSecurity>0</DocSecurity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Tapiwanashe Frederick Phiri</cp:lastModifiedBy>
  <cp:revision>1</cp:revision>
  <dcterms:created xsi:type="dcterms:W3CDTF">2026-08-26T09:37:22Z</dcterms:created>
  <dcterms:modified xsi:type="dcterms:W3CDTF">2026-08-26T14:30:52Z</dcterms:modified>
</cp:coreProperties>
</file>